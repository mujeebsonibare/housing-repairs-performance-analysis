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44" autoAdjust="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90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8687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092440" y="0"/>
            <a:ext cx="4096512" cy="6858000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051560"/>
            <a:ext cx="6812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F3756"/>
                </a:solidFill>
                <a:latin typeface="Aptos Display"/>
              </a:defRPr>
            </a:pPr>
            <a:r>
              <a:t>Housing Repairs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84831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F5597"/>
                </a:solidFill>
                <a:latin typeface="Aptos"/>
              </a:defRPr>
            </a:pPr>
            <a:r>
              <a:t>Data Quality, Operational Insight</a:t>
            </a:r>
            <a:br/>
            <a:r>
              <a:t>and Resident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310128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707A"/>
                </a:solidFill>
                <a:latin typeface="Aptos"/>
              </a:defRPr>
            </a:pPr>
            <a:r>
              <a:t>Practical Assessment Presentation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4041648"/>
            <a:ext cx="960120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448056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237"/>
                </a:solidFill>
                <a:latin typeface="Aptos"/>
              </a:defRPr>
            </a:pPr>
            <a:r>
              <a:t>Senior Management Analytical Briefing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919472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3237"/>
                </a:solidFill>
                <a:latin typeface="Aptos"/>
              </a:defRPr>
            </a:pPr>
            <a:r>
              <a:t>Presenter: Mujeeb Sonibare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960120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  <a:latin typeface="Aptos"/>
              </a:defRPr>
            </a:pPr>
            <a:r>
              <a:t>1,350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1490472"/>
            <a:ext cx="2971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CE6F0"/>
                </a:solidFill>
                <a:latin typeface="Aptos"/>
              </a:defRPr>
            </a:pPr>
            <a:r>
              <a:t>repairs analysed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49640" y="2240280"/>
            <a:ext cx="2423160" cy="146304"/>
          </a:xfrm>
          <a:prstGeom prst="rect">
            <a:avLst/>
          </a:prstGeom>
          <a:solidFill>
            <a:srgbClr val="465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549640" y="2240280"/>
            <a:ext cx="1744675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549640" y="2770632"/>
            <a:ext cx="2423160" cy="146304"/>
          </a:xfrm>
          <a:prstGeom prst="rect">
            <a:avLst/>
          </a:prstGeom>
          <a:solidFill>
            <a:srgbClr val="465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549640" y="2770632"/>
            <a:ext cx="1405432" cy="14630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549640" y="3300984"/>
            <a:ext cx="2423160" cy="146304"/>
          </a:xfrm>
          <a:prstGeom prst="rect">
            <a:avLst/>
          </a:prstGeom>
          <a:solidFill>
            <a:srgbClr val="465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549640" y="3300984"/>
            <a:ext cx="1986991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549640" y="3831335"/>
            <a:ext cx="2423160" cy="146304"/>
          </a:xfrm>
          <a:prstGeom prst="rect">
            <a:avLst/>
          </a:prstGeom>
          <a:solidFill>
            <a:srgbClr val="465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549640" y="3831335"/>
            <a:ext cx="848105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549640" y="4361688"/>
            <a:ext cx="2423160" cy="146304"/>
          </a:xfrm>
          <a:prstGeom prst="rect">
            <a:avLst/>
          </a:prstGeom>
          <a:solidFill>
            <a:srgbClr val="465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549640" y="4361688"/>
            <a:ext cx="1453895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58200" y="50749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Repairs • Residents • Complaints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4114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3756"/>
                </a:solidFill>
                <a:latin typeface="Aptos Display"/>
              </a:defRPr>
            </a:pPr>
            <a:r>
              <a:t>Dashboard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19456"/>
            <a:ext cx="4251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6707A"/>
                </a:solidFill>
                <a:latin typeface="Aptos"/>
              </a:defRPr>
            </a:pPr>
            <a:r>
              <a:t>Management view of repairs, costs, resident impact and complaints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6510528"/>
            <a:ext cx="10927080" cy="10972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6556248"/>
            <a:ext cx="9601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707A"/>
                </a:solidFill>
                <a:latin typeface="Aptos"/>
              </a:defRPr>
            </a:pPr>
            <a:r>
              <a:t>Housing Repairs Performance | Practical Assessment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07A"/>
                </a:solidFill>
                <a:latin typeface="Aptos"/>
              </a:defRPr>
            </a:pPr>
            <a:r>
              <a:t>2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2FE15E1-7BFC-AFD3-C5DB-B2033659E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8524"/>
            <a:ext cx="12191695" cy="598200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2926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3756"/>
                </a:solidFill>
                <a:latin typeface="Aptos Display"/>
              </a:defRPr>
            </a:pPr>
            <a:r>
              <a:t>1. Business Objective &amp;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04672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707A"/>
                </a:solidFill>
                <a:latin typeface="Aptos"/>
              </a:defRPr>
            </a:pPr>
            <a:r>
              <a:t>The analysis was designed around the decisions senior managers need to make.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34440"/>
            <a:ext cx="5257800" cy="1325880"/>
          </a:xfrm>
          <a:prstGeom prst="roundRect">
            <a:avLst/>
          </a:prstGeom>
          <a:solidFill>
            <a:srgbClr val="E8F3F1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234440"/>
            <a:ext cx="64008" cy="132588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353312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6707A"/>
                </a:solidFill>
                <a:latin typeface="Aptos"/>
              </a:defRPr>
            </a:pPr>
            <a:r>
              <a:t>BUSINESS 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709928"/>
            <a:ext cx="493776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237"/>
                </a:solidFill>
                <a:latin typeface="Aptos"/>
              </a:defRPr>
            </a:pPr>
            <a:r>
              <a:t>Assess repairs performance, understand resident outcomes and complaints, identify significant service risks, and provide evidence-based recommendations for improvement.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788920"/>
            <a:ext cx="52120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2A9D8F"/>
                </a:solidFill>
                <a:latin typeface="Aptos"/>
              </a:defRPr>
            </a:pPr>
            <a:r>
              <a:t>KEY QUESTIONS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090672"/>
            <a:ext cx="51663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500"/>
              </a:spcAft>
              <a:defRPr sz="1330">
                <a:solidFill>
                  <a:srgbClr val="2D3237"/>
                </a:solidFill>
                <a:latin typeface="Aptos"/>
              </a:defRPr>
            </a:pPr>
            <a:r>
              <a:rPr dirty="0"/>
              <a:t>How effectively are repairs being completed against their applicable target times?</a:t>
            </a:r>
          </a:p>
          <a:p>
            <a:pPr>
              <a:lnSpc>
                <a:spcPct val="103000"/>
              </a:lnSpc>
              <a:spcAft>
                <a:spcPts val="500"/>
              </a:spcAft>
              <a:defRPr sz="1330">
                <a:solidFill>
                  <a:srgbClr val="2D3237"/>
                </a:solidFill>
                <a:latin typeface="Aptos"/>
              </a:defRPr>
            </a:pPr>
            <a:r>
              <a:rPr dirty="0"/>
              <a:t>Where do repair type, priority and contractor results differ?</a:t>
            </a:r>
          </a:p>
          <a:p>
            <a:pPr>
              <a:lnSpc>
                <a:spcPct val="103000"/>
              </a:lnSpc>
              <a:spcAft>
                <a:spcPts val="500"/>
              </a:spcAft>
              <a:defRPr sz="1330">
                <a:solidFill>
                  <a:srgbClr val="2D3237"/>
                </a:solidFill>
                <a:latin typeface="Aptos"/>
              </a:defRPr>
            </a:pPr>
            <a:r>
              <a:rPr dirty="0"/>
              <a:t>How do repair outcomes and satisfaction vary across resident characteristics?</a:t>
            </a:r>
          </a:p>
          <a:p>
            <a:pPr>
              <a:lnSpc>
                <a:spcPct val="103000"/>
              </a:lnSpc>
              <a:spcAft>
                <a:spcPts val="500"/>
              </a:spcAft>
              <a:defRPr sz="1330">
                <a:solidFill>
                  <a:srgbClr val="2D3237"/>
                </a:solidFill>
                <a:latin typeface="Aptos"/>
              </a:defRPr>
            </a:pPr>
            <a:r>
              <a:rPr dirty="0"/>
              <a:t>What do complaints reveal about service quality and resident experience?</a:t>
            </a:r>
          </a:p>
          <a:p>
            <a:pPr>
              <a:lnSpc>
                <a:spcPct val="103000"/>
              </a:lnSpc>
              <a:spcAft>
                <a:spcPts val="500"/>
              </a:spcAft>
              <a:defRPr sz="1330">
                <a:solidFill>
                  <a:srgbClr val="2D3237"/>
                </a:solidFill>
                <a:latin typeface="Aptos"/>
              </a:defRPr>
            </a:pPr>
            <a:r>
              <a:rPr dirty="0"/>
              <a:t>Where could earlier operational intervention reduce service problems?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1234440"/>
            <a:ext cx="48463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2F5597"/>
                </a:solidFill>
                <a:latin typeface="Aptos"/>
              </a:defRPr>
            </a:pPr>
            <a:r>
              <a:t>DELIVERABLES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554480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1554480"/>
            <a:ext cx="64008" cy="71323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36792" y="1673352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6707A"/>
                </a:solidFill>
                <a:latin typeface="Aptos"/>
              </a:defRPr>
            </a:pPr>
            <a:r>
              <a:t>Validated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2029967"/>
            <a:ext cx="4937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0">
                <a:solidFill>
                  <a:srgbClr val="2D3237"/>
                </a:solidFill>
                <a:latin typeface="Aptos"/>
              </a:defRPr>
            </a:pPr>
            <a:r>
              <a:t>Profiling, quality checks and documented treatment decisions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404872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72200" y="2404872"/>
            <a:ext cx="64008" cy="71323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36792" y="2523744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6707A"/>
                </a:solidFill>
                <a:latin typeface="Aptos"/>
              </a:defRPr>
            </a:pPr>
            <a:r>
              <a:t>Analytical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792" y="2880360"/>
            <a:ext cx="4937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0">
                <a:solidFill>
                  <a:srgbClr val="2D3237"/>
                </a:solidFill>
                <a:latin typeface="Aptos"/>
              </a:defRPr>
            </a:pPr>
            <a:r>
              <a:t>Relationships structured for reliable filtering and analysis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255264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2200" y="3255264"/>
            <a:ext cx="64008" cy="71323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36792" y="3374136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6707A"/>
                </a:solidFill>
                <a:latin typeface="Aptos"/>
              </a:defRPr>
            </a:pPr>
            <a:r>
              <a:t>Management KPIs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6792" y="3730752"/>
            <a:ext cx="4937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0">
                <a:solidFill>
                  <a:srgbClr val="2D3237"/>
                </a:solidFill>
                <a:latin typeface="Aptos"/>
              </a:defRPr>
            </a:pPr>
            <a:r>
              <a:t>Six consistent measures for performance and resident outcomes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4105656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72200" y="4105656"/>
            <a:ext cx="64008" cy="71323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36792" y="4224528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6707A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4581144"/>
            <a:ext cx="4937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0">
                <a:solidFill>
                  <a:srgbClr val="2D3237"/>
                </a:solidFill>
                <a:latin typeface="Aptos"/>
              </a:defRPr>
            </a:pPr>
            <a:r>
              <a:t>Concise Power BI view for senior-management discussion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4956048"/>
            <a:ext cx="5257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172200" y="4956048"/>
            <a:ext cx="64008" cy="71323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36792" y="5074920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6707A"/>
                </a:solidFill>
                <a:latin typeface="Aptos"/>
              </a:defRPr>
            </a:pPr>
            <a:r>
              <a:t>Findings &amp; actions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36792" y="5431536"/>
            <a:ext cx="4937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0">
                <a:solidFill>
                  <a:srgbClr val="2D3237"/>
                </a:solidFill>
                <a:latin typeface="Aptos"/>
              </a:defRPr>
            </a:pPr>
            <a:r>
              <a:t>Evidence-based interpretation, risks, limitations and recommendations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" y="6519672"/>
            <a:ext cx="10927080" cy="10972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6565392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6707A"/>
                </a:solidFill>
                <a:latin typeface="Aptos"/>
              </a:defRPr>
            </a:pPr>
            <a:r>
              <a:t>Housing Repairs Performance | Practical Assessment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27080" y="6547104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707A"/>
                </a:solidFill>
                <a:latin typeface="Aptos"/>
              </a:defRPr>
            </a:pPr>
            <a:r>
              <a:rPr sz="800">
                <a:solidFill>
                  <a:srgbClr val="66707A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2926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3756"/>
                </a:solidFill>
                <a:latin typeface="Aptos Display"/>
              </a:defRPr>
            </a:pPr>
            <a:r>
              <a:t>2. Data Quality &amp; Validation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04672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707A"/>
                </a:solidFill>
                <a:latin typeface="Aptos"/>
              </a:defRPr>
            </a:pPr>
            <a:r>
              <a:t>Quality checks were performed before relying on relationships, KPIs or dashboard findings.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07008"/>
            <a:ext cx="5257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2A9D8F"/>
                </a:solidFill>
                <a:latin typeface="Aptos"/>
              </a:defRPr>
            </a:pPr>
            <a:r>
              <a:t>WHAT WE FOUND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5230368" cy="3810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03000"/>
              </a:lnSpc>
              <a:spcAft>
                <a:spcPts val="370"/>
              </a:spcAft>
              <a:buFont typeface="Wingdings" panose="05000000000000000000" pitchFamily="2" charset="2"/>
              <a:buChar char="v"/>
              <a:defRPr sz="1019">
                <a:solidFill>
                  <a:srgbClr val="2D3237"/>
                </a:solidFill>
                <a:latin typeface="Aptos"/>
              </a:defRPr>
            </a:pPr>
            <a:r>
              <a:rPr sz="1100" dirty="0"/>
              <a:t>Duplicate primary IDs: P-0119, RES-0244, C003, R-00502 and COMP-0012. No full-row duplicates.</a:t>
            </a:r>
          </a:p>
          <a:p>
            <a:pPr marL="171450" indent="-171450">
              <a:lnSpc>
                <a:spcPct val="103000"/>
              </a:lnSpc>
              <a:spcAft>
                <a:spcPts val="370"/>
              </a:spcAft>
              <a:buFont typeface="Wingdings" panose="05000000000000000000" pitchFamily="2" charset="2"/>
              <a:buChar char="v"/>
              <a:defRPr sz="1019">
                <a:solidFill>
                  <a:srgbClr val="2D3237"/>
                </a:solidFill>
                <a:latin typeface="Aptos"/>
              </a:defRPr>
            </a:pPr>
            <a:r>
              <a:rPr sz="1100" dirty="0"/>
              <a:t>Orphan references: invalid Property, Tenancy, Resident, Contractor, Repair Type and Complaint links were identified after duplicate correction.</a:t>
            </a:r>
          </a:p>
          <a:p>
            <a:pPr marL="171450" indent="-171450">
              <a:lnSpc>
                <a:spcPct val="103000"/>
              </a:lnSpc>
              <a:spcAft>
                <a:spcPts val="370"/>
              </a:spcAft>
              <a:buFont typeface="Wingdings" panose="05000000000000000000" pitchFamily="2" charset="2"/>
              <a:buChar char="v"/>
              <a:defRPr sz="1019">
                <a:solidFill>
                  <a:srgbClr val="2D3237"/>
                </a:solidFill>
                <a:latin typeface="Aptos"/>
              </a:defRPr>
            </a:pPr>
            <a:r>
              <a:rPr sz="1100" dirty="0"/>
              <a:t>Missing values: 1 vulnerability flag; 500 tenancy end dates; 28 completed-date gaps plus 319 missing satisfaction scores; 12 complaint close dates.</a:t>
            </a:r>
          </a:p>
          <a:p>
            <a:pPr marL="171450" indent="-171450">
              <a:lnSpc>
                <a:spcPct val="103000"/>
              </a:lnSpc>
              <a:spcAft>
                <a:spcPts val="370"/>
              </a:spcAft>
              <a:buFont typeface="Wingdings" panose="05000000000000000000" pitchFamily="2" charset="2"/>
              <a:buChar char="v"/>
              <a:defRPr sz="1019">
                <a:solidFill>
                  <a:srgbClr val="2D3237"/>
                </a:solidFill>
                <a:latin typeface="Aptos"/>
              </a:defRPr>
            </a:pPr>
            <a:r>
              <a:rPr sz="1100" dirty="0"/>
              <a:t>Date exceptions: one completion before raised; one completion before first attendance; one completed repair without completion date; one complaint closed before opened; one tenancy ended before it started.</a:t>
            </a:r>
          </a:p>
          <a:p>
            <a:pPr marL="171450" indent="-171450">
              <a:lnSpc>
                <a:spcPct val="103000"/>
              </a:lnSpc>
              <a:spcAft>
                <a:spcPts val="370"/>
              </a:spcAft>
              <a:buFont typeface="Wingdings" panose="05000000000000000000" pitchFamily="2" charset="2"/>
              <a:buChar char="v"/>
              <a:defRPr sz="1019">
                <a:solidFill>
                  <a:srgbClr val="2D3237"/>
                </a:solidFill>
                <a:latin typeface="Aptos"/>
              </a:defRPr>
            </a:pPr>
            <a:r>
              <a:rPr sz="1100" dirty="0"/>
              <a:t>490 </a:t>
            </a:r>
            <a:r>
              <a:rPr sz="1100" dirty="0" err="1"/>
              <a:t>Target_Date</a:t>
            </a:r>
            <a:r>
              <a:rPr sz="1100" dirty="0"/>
              <a:t> values did not equal </a:t>
            </a:r>
            <a:r>
              <a:rPr sz="1100" dirty="0" err="1"/>
              <a:t>Raised_Date</a:t>
            </a:r>
            <a:r>
              <a:rPr sz="1100" dirty="0"/>
              <a:t> + </a:t>
            </a:r>
            <a:r>
              <a:rPr sz="1100" dirty="0" err="1"/>
              <a:t>Default_Target_Days</a:t>
            </a:r>
            <a:r>
              <a:rPr sz="1100" dirty="0"/>
              <a:t>; source </a:t>
            </a:r>
            <a:r>
              <a:rPr sz="1100" dirty="0" err="1"/>
              <a:t>Target_Date</a:t>
            </a:r>
            <a:r>
              <a:rPr sz="1100" dirty="0"/>
              <a:t> retained because intended SLA rule was undocumented.</a:t>
            </a:r>
          </a:p>
          <a:p>
            <a:pPr marL="171450" indent="-171450">
              <a:lnSpc>
                <a:spcPct val="103000"/>
              </a:lnSpc>
              <a:spcAft>
                <a:spcPts val="370"/>
              </a:spcAft>
              <a:buFont typeface="Wingdings" panose="05000000000000000000" pitchFamily="2" charset="2"/>
              <a:buChar char="v"/>
              <a:defRPr sz="1019">
                <a:solidFill>
                  <a:srgbClr val="2D3237"/>
                </a:solidFill>
                <a:latin typeface="Aptos"/>
              </a:defRPr>
            </a:pPr>
            <a:r>
              <a:rPr sz="1100" dirty="0"/>
              <a:t>71 repairs had Priority different from </a:t>
            </a:r>
            <a:r>
              <a:rPr sz="1100" dirty="0" err="1"/>
              <a:t>Default_Priority</a:t>
            </a:r>
            <a:r>
              <a:rPr sz="1100" dirty="0"/>
              <a:t>; recorded actual Priority retained.</a:t>
            </a:r>
          </a:p>
          <a:p>
            <a:pPr marL="171450" indent="-171450">
              <a:lnSpc>
                <a:spcPct val="103000"/>
              </a:lnSpc>
              <a:spcAft>
                <a:spcPts val="370"/>
              </a:spcAft>
              <a:buFont typeface="Wingdings" panose="05000000000000000000" pitchFamily="2" charset="2"/>
              <a:buChar char="v"/>
              <a:defRPr sz="1019">
                <a:solidFill>
                  <a:srgbClr val="2D3237"/>
                </a:solidFill>
                <a:latin typeface="Aptos"/>
              </a:defRPr>
            </a:pPr>
            <a:r>
              <a:rPr sz="1100" dirty="0"/>
              <a:t>Gas-safety RT08: </a:t>
            </a:r>
            <a:r>
              <a:rPr sz="1100" dirty="0" err="1"/>
              <a:t>Default_Target_Days</a:t>
            </a:r>
            <a:r>
              <a:rPr sz="1100" dirty="0"/>
              <a:t> = 0, while observed targets followed other time patterns — an SLA inconsistency to clarify.</a:t>
            </a:r>
          </a:p>
          <a:p>
            <a:pPr marL="171450" indent="-171450">
              <a:lnSpc>
                <a:spcPct val="103000"/>
              </a:lnSpc>
              <a:spcAft>
                <a:spcPts val="370"/>
              </a:spcAft>
              <a:buFont typeface="Wingdings" panose="05000000000000000000" pitchFamily="2" charset="2"/>
              <a:buChar char="v"/>
              <a:defRPr sz="1019">
                <a:solidFill>
                  <a:srgbClr val="2D3237"/>
                </a:solidFill>
                <a:latin typeface="Aptos"/>
              </a:defRPr>
            </a:pPr>
            <a:r>
              <a:rPr sz="1100" dirty="0"/>
              <a:t>Confirmed negative financial values were nulled: weekly rent -£124.50, repair cost -£85 and compensation -£50.</a:t>
            </a:r>
          </a:p>
          <a:p>
            <a:pPr marL="171450" indent="-171450">
              <a:lnSpc>
                <a:spcPct val="103000"/>
              </a:lnSpc>
              <a:spcAft>
                <a:spcPts val="370"/>
              </a:spcAft>
              <a:buFont typeface="Wingdings" panose="05000000000000000000" pitchFamily="2" charset="2"/>
              <a:buChar char="v"/>
              <a:defRPr sz="1019">
                <a:solidFill>
                  <a:srgbClr val="2D3237"/>
                </a:solidFill>
                <a:latin typeface="Aptos"/>
              </a:defRPr>
            </a:pPr>
            <a:r>
              <a:rPr sz="1100" dirty="0"/>
              <a:t>Missing satisfaction treated as missing response, not zero; open repairs/complaints were not automatically treated as errors.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44768" y="1207008"/>
            <a:ext cx="5257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2F5597"/>
                </a:solidFill>
                <a:latin typeface="Aptos"/>
              </a:defRPr>
            </a:pPr>
            <a:r>
              <a:t>HOW WE VALIDATED AND TREATED IT</a:t>
            </a:r>
          </a:p>
        </p:txBody>
      </p:sp>
      <p:sp>
        <p:nvSpPr>
          <p:cNvPr id="9" name="Oval 8"/>
          <p:cNvSpPr/>
          <p:nvPr/>
        </p:nvSpPr>
        <p:spPr>
          <a:xfrm>
            <a:off x="6181344" y="1527048"/>
            <a:ext cx="384048" cy="384048"/>
          </a:xfrm>
          <a:prstGeom prst="ellipse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81344" y="1600200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3408" y="1517904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F3756"/>
                </a:solidFill>
                <a:latin typeface="Aptos"/>
              </a:defRPr>
            </a:pPr>
            <a:r>
              <a:t>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517904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0">
                <a:solidFill>
                  <a:srgbClr val="2D3237"/>
                </a:solidFill>
                <a:latin typeface="Aptos"/>
              </a:defRPr>
            </a:pPr>
            <a:r>
              <a:rPr dirty="0"/>
              <a:t>Checked row counts, grain, types, nulls, distinct IDs and value ranges.</a:t>
            </a:r>
          </a:p>
        </p:txBody>
      </p:sp>
      <p:sp>
        <p:nvSpPr>
          <p:cNvPr id="13" name="Oval 12"/>
          <p:cNvSpPr/>
          <p:nvPr/>
        </p:nvSpPr>
        <p:spPr>
          <a:xfrm>
            <a:off x="6181344" y="2157984"/>
            <a:ext cx="384048" cy="384048"/>
          </a:xfrm>
          <a:prstGeom prst="ellipse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81344" y="2231136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3408" y="214884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F3756"/>
                </a:solidFill>
                <a:latin typeface="Aptos"/>
              </a:defRPr>
            </a:pPr>
            <a:r>
              <a:t>Test keys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148840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0">
                <a:solidFill>
                  <a:srgbClr val="2D3237"/>
                </a:solidFill>
                <a:latin typeface="Aptos"/>
              </a:defRPr>
            </a:pPr>
            <a:r>
              <a:rPr dirty="0"/>
              <a:t>Checked uniqueness of primary keys and whether foreign keys existed in parent tables.</a:t>
            </a:r>
          </a:p>
        </p:txBody>
      </p:sp>
      <p:sp>
        <p:nvSpPr>
          <p:cNvPr id="17" name="Oval 16"/>
          <p:cNvSpPr/>
          <p:nvPr/>
        </p:nvSpPr>
        <p:spPr>
          <a:xfrm>
            <a:off x="6181344" y="2788920"/>
            <a:ext cx="384048" cy="384048"/>
          </a:xfrm>
          <a:prstGeom prst="ellipse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81344" y="2862072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3408" y="2779776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F3756"/>
                </a:solidFill>
                <a:latin typeface="Aptos"/>
              </a:defRPr>
            </a:pPr>
            <a:r>
              <a:t>Test business rules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779776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0">
                <a:solidFill>
                  <a:srgbClr val="2D3237"/>
                </a:solidFill>
                <a:latin typeface="Aptos"/>
              </a:defRPr>
            </a:pPr>
            <a:r>
              <a:rPr dirty="0"/>
              <a:t>Compared dates, priorities, status and target-day logic rather than trusting flags.</a:t>
            </a:r>
          </a:p>
        </p:txBody>
      </p:sp>
      <p:sp>
        <p:nvSpPr>
          <p:cNvPr id="21" name="Oval 20"/>
          <p:cNvSpPr/>
          <p:nvPr/>
        </p:nvSpPr>
        <p:spPr>
          <a:xfrm>
            <a:off x="6181344" y="3419856"/>
            <a:ext cx="384048" cy="384048"/>
          </a:xfrm>
          <a:prstGeom prst="ellipse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81344" y="3493008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93408" y="341071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F3756"/>
                </a:solidFill>
                <a:latin typeface="Aptos"/>
              </a:defRPr>
            </a:pPr>
            <a:r>
              <a:t>Correct where justified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3410712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0">
                <a:solidFill>
                  <a:srgbClr val="2D3237"/>
                </a:solidFill>
                <a:latin typeface="Aptos"/>
              </a:defRPr>
            </a:pPr>
            <a:r>
              <a:t>Corrected duplicate identifiers and nulled confirmed invalid orphan/negative values and invalid date fields.</a:t>
            </a:r>
          </a:p>
        </p:txBody>
      </p:sp>
      <p:sp>
        <p:nvSpPr>
          <p:cNvPr id="25" name="Oval 24"/>
          <p:cNvSpPr/>
          <p:nvPr/>
        </p:nvSpPr>
        <p:spPr>
          <a:xfrm>
            <a:off x="6181344" y="4050791"/>
            <a:ext cx="384048" cy="384048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81344" y="4123944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93408" y="404164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F3756"/>
                </a:solidFill>
                <a:latin typeface="Aptos"/>
              </a:defRPr>
            </a:pPr>
            <a:r>
              <a:t>Retain where uncertain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4041648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0">
                <a:solidFill>
                  <a:srgbClr val="2D3237"/>
                </a:solidFill>
                <a:latin typeface="Aptos"/>
              </a:defRPr>
            </a:pPr>
            <a:r>
              <a:rPr dirty="0"/>
              <a:t>Kept source </a:t>
            </a:r>
            <a:r>
              <a:rPr dirty="0" err="1"/>
              <a:t>Target_Date</a:t>
            </a:r>
            <a:r>
              <a:rPr dirty="0"/>
              <a:t>, actual Priority and ambiguous SLA patterns rather than inventing rules.</a:t>
            </a:r>
          </a:p>
        </p:txBody>
      </p:sp>
      <p:sp>
        <p:nvSpPr>
          <p:cNvPr id="29" name="Oval 28"/>
          <p:cNvSpPr/>
          <p:nvPr/>
        </p:nvSpPr>
        <p:spPr>
          <a:xfrm>
            <a:off x="6181344" y="4681727"/>
            <a:ext cx="384048" cy="384048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81344" y="4754879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93408" y="4672583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F3756"/>
                </a:solidFill>
                <a:latin typeface="Aptos"/>
              </a:defRPr>
            </a:pPr>
            <a:r>
              <a:t>Control analytical impact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4672583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0">
                <a:solidFill>
                  <a:srgbClr val="2D3237"/>
                </a:solidFill>
                <a:latin typeface="Aptos"/>
              </a:defRPr>
            </a:pPr>
            <a:r>
              <a:t>Handled affected records in measures where necessary while retaining rows for traceability.</a:t>
            </a:r>
          </a:p>
        </p:txBody>
      </p:sp>
      <p:sp>
        <p:nvSpPr>
          <p:cNvPr id="33" name="Oval 32"/>
          <p:cNvSpPr/>
          <p:nvPr/>
        </p:nvSpPr>
        <p:spPr>
          <a:xfrm>
            <a:off x="6181344" y="5312664"/>
            <a:ext cx="384048" cy="384048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81344" y="5385816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93408" y="530352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F3756"/>
                </a:solidFill>
                <a:latin typeface="Aptos"/>
              </a:defRPr>
            </a:pPr>
            <a:r>
              <a:t>Document limitations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5303520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0">
                <a:solidFill>
                  <a:srgbClr val="2D3237"/>
                </a:solidFill>
                <a:latin typeface="Aptos"/>
              </a:defRPr>
            </a:pPr>
            <a:r>
              <a:t>Recorded unresolved rules and exceptions so management can distinguish data issues from service findings.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" y="6519672"/>
            <a:ext cx="10927080" cy="10972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" y="6565392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6707A"/>
                </a:solidFill>
                <a:latin typeface="Aptos"/>
              </a:defRPr>
            </a:pPr>
            <a:r>
              <a:t>Housing Repairs Performance | Practical Assessment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27080" y="6547104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707A"/>
                </a:solidFill>
                <a:latin typeface="Aptos"/>
              </a:defRPr>
            </a:pPr>
            <a:r>
              <a:rPr sz="800">
                <a:solidFill>
                  <a:srgbClr val="66707A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2926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3756"/>
                </a:solidFill>
                <a:latin typeface="Aptos Display"/>
              </a:defRPr>
            </a:pPr>
            <a:r>
              <a:t>3. Analytical Data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04672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707A"/>
                </a:solidFill>
                <a:latin typeface="Aptos"/>
              </a:defRPr>
            </a:pPr>
            <a:r>
              <a:t>The model was kept simple: descriptive tables provide context around the main repair activity.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115568"/>
            <a:ext cx="10881360" cy="566928"/>
          </a:xfrm>
          <a:prstGeom prst="roundRect">
            <a:avLst/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243584"/>
            <a:ext cx="10469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F3756"/>
                </a:solidFill>
                <a:latin typeface="Aptos"/>
              </a:defRPr>
            </a:pPr>
            <a:r>
              <a:t>Think of the centre as the service activity; the surrounding tables answer “where, who, what type, when and what happened afterwards?”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331720"/>
            <a:ext cx="315468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3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07992" y="2404872"/>
            <a:ext cx="30083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F3756"/>
                </a:solidFill>
                <a:latin typeface="Aptos"/>
              </a:defRPr>
            </a:pPr>
            <a:r>
              <a:t>REPAIRS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2660903"/>
            <a:ext cx="300837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70" b="0">
                <a:solidFill>
                  <a:srgbClr val="66707A"/>
                </a:solidFill>
                <a:latin typeface="Aptos"/>
              </a:defRPr>
            </a:pPr>
            <a:r>
              <a:t>Primary fact • 1,350 repairs</a:t>
            </a:r>
            <a:br/>
            <a:r>
              <a:t>cost • dates • status • satisfaction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3822191"/>
            <a:ext cx="315468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07992" y="3895344"/>
            <a:ext cx="30083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F3756"/>
                </a:solidFill>
                <a:latin typeface="Aptos"/>
              </a:defRPr>
            </a:pPr>
            <a:r>
              <a:t>COMPLAINTS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4151376"/>
            <a:ext cx="300837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70" b="0">
                <a:solidFill>
                  <a:srgbClr val="66707A"/>
                </a:solidFill>
                <a:latin typeface="Aptos"/>
              </a:defRPr>
            </a:pPr>
            <a:r>
              <a:t>Secondary event fact • 148 complaints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4983480"/>
            <a:ext cx="233172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10712" y="5056632"/>
            <a:ext cx="21854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F3756"/>
                </a:solidFill>
                <a:latin typeface="Aptos"/>
              </a:defRPr>
            </a:pPr>
            <a:r>
              <a:t>TENANCIES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0712" y="5312664"/>
            <a:ext cx="2185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70" b="0">
                <a:solidFill>
                  <a:srgbClr val="66707A"/>
                </a:solidFill>
                <a:latin typeface="Aptos"/>
              </a:defRPr>
            </a:pPr>
            <a:r>
              <a:t>Resident ↔ Property context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2057400"/>
            <a:ext cx="214884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7552" y="2130552"/>
            <a:ext cx="2002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F3756"/>
                </a:solidFill>
                <a:latin typeface="Aptos"/>
              </a:defRPr>
            </a:pPr>
            <a:r>
              <a:t>PROPERTIES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2386584"/>
            <a:ext cx="20025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70" b="0">
                <a:solidFill>
                  <a:srgbClr val="66707A"/>
                </a:solidFill>
                <a:latin typeface="Aptos"/>
              </a:defRPr>
            </a:pPr>
            <a:r>
              <a:t>Ward • type • tenure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182112"/>
            <a:ext cx="214884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7552" y="3255264"/>
            <a:ext cx="2002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F3756"/>
                </a:solidFill>
                <a:latin typeface="Aptos"/>
              </a:defRPr>
            </a:pPr>
            <a:r>
              <a:t>RESIDENTS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3511296"/>
            <a:ext cx="20025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70" b="0">
                <a:solidFill>
                  <a:srgbClr val="66707A"/>
                </a:solidFill>
                <a:latin typeface="Aptos"/>
              </a:defRPr>
            </a:pPr>
            <a:r>
              <a:t>Age • vulnerability • disability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42832" y="2057400"/>
            <a:ext cx="214884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15984" y="2130552"/>
            <a:ext cx="2002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F3756"/>
                </a:solidFill>
                <a:latin typeface="Aptos"/>
              </a:defRPr>
            </a:pPr>
            <a:r>
              <a:t>REPAIR TYPES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15984" y="2386584"/>
            <a:ext cx="20025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70" b="0">
                <a:solidFill>
                  <a:srgbClr val="66707A"/>
                </a:solidFill>
                <a:latin typeface="Aptos"/>
              </a:defRPr>
            </a:pPr>
            <a:r>
              <a:t>Category • priority • target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42832" y="3182112"/>
            <a:ext cx="214884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15984" y="3255264"/>
            <a:ext cx="2002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F3756"/>
                </a:solidFill>
                <a:latin typeface="Aptos"/>
              </a:defRPr>
            </a:pPr>
            <a:r>
              <a:t>CONTRACTORS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15984" y="3511296"/>
            <a:ext cx="20025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70" b="0">
                <a:solidFill>
                  <a:srgbClr val="66707A"/>
                </a:solidFill>
                <a:latin typeface="Aptos"/>
              </a:defRPr>
            </a:pPr>
            <a:r>
              <a:t>Provider • trade • quality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42832" y="4315968"/>
            <a:ext cx="214884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015984" y="4389120"/>
            <a:ext cx="2002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F3756"/>
                </a:solidFill>
                <a:latin typeface="Aptos"/>
              </a:defRPr>
            </a:pPr>
            <a:r>
              <a:t>DIMDATE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15984" y="4645152"/>
            <a:ext cx="20025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70" b="0">
                <a:solidFill>
                  <a:srgbClr val="66707A"/>
                </a:solidFill>
                <a:latin typeface="Aptos"/>
              </a:defRPr>
            </a:pPr>
            <a:r>
              <a:t>Calendar / date analysis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063240" y="2414016"/>
            <a:ext cx="1371600" cy="329184"/>
          </a:xfrm>
          <a:prstGeom prst="line">
            <a:avLst/>
          </a:prstGeom>
          <a:ln w="12700">
            <a:solidFill>
              <a:srgbClr val="1F37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3063240" y="2926080"/>
            <a:ext cx="1371600" cy="612648"/>
          </a:xfrm>
          <a:prstGeom prst="line">
            <a:avLst/>
          </a:prstGeom>
          <a:ln w="12700">
            <a:solidFill>
              <a:srgbClr val="1F37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7589520" y="2414016"/>
            <a:ext cx="1353312" cy="329184"/>
          </a:xfrm>
          <a:prstGeom prst="line">
            <a:avLst/>
          </a:prstGeom>
          <a:ln w="12700">
            <a:solidFill>
              <a:srgbClr val="1F37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7589520" y="2880360"/>
            <a:ext cx="1353312" cy="658368"/>
          </a:xfrm>
          <a:prstGeom prst="line">
            <a:avLst/>
          </a:prstGeom>
          <a:ln w="12700">
            <a:solidFill>
              <a:srgbClr val="1F37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6016752" y="3291840"/>
            <a:ext cx="0" cy="530351"/>
          </a:xfrm>
          <a:prstGeom prst="line">
            <a:avLst/>
          </a:prstGeom>
          <a:ln w="12700">
            <a:solidFill>
              <a:srgbClr val="1F37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5486400" y="4572000"/>
            <a:ext cx="0" cy="411480"/>
          </a:xfrm>
          <a:prstGeom prst="line">
            <a:avLst/>
          </a:prstGeom>
          <a:ln w="12700">
            <a:solidFill>
              <a:srgbClr val="1F37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589520" y="2743200"/>
            <a:ext cx="1353312" cy="1920240"/>
          </a:xfrm>
          <a:prstGeom prst="line">
            <a:avLst/>
          </a:prstGeom>
          <a:ln w="12700">
            <a:solidFill>
              <a:srgbClr val="1F37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58368" y="5806440"/>
            <a:ext cx="5029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2A9D8F"/>
                </a:solidFill>
                <a:latin typeface="Aptos"/>
              </a:defRPr>
            </a:pPr>
            <a:r>
              <a:t>WHY THESE RELATIONSHIPS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053328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" b="0">
                <a:solidFill>
                  <a:srgbClr val="2D3237"/>
                </a:solidFill>
                <a:latin typeface="Aptos"/>
              </a:defRPr>
            </a:pPr>
            <a:r>
              <a:t>Single-direction filtering avoids ambiguous paths. Direct Properties→Repairs and Tenancies→Complaints links were avoided because context already flows through Tenancies/Repairs. Complaints were linked to Repairs using Repair_ID.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" y="6519672"/>
            <a:ext cx="10927080" cy="10972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" y="6565392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6707A"/>
                </a:solidFill>
                <a:latin typeface="Aptos"/>
              </a:defRPr>
            </a:pPr>
            <a:r>
              <a:t>Housing Repairs Performance | Practical Assessment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27080" y="6547104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707A"/>
                </a:solidFill>
                <a:latin typeface="Aptos"/>
              </a:defRPr>
            </a:pPr>
            <a:r>
              <a:rPr sz="800">
                <a:solidFill>
                  <a:srgbClr val="66707A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2926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3756"/>
                </a:solidFill>
                <a:latin typeface="Aptos Display"/>
              </a:defRPr>
            </a:pPr>
            <a:r>
              <a:t>4. KPI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04672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707A"/>
                </a:solidFill>
                <a:latin typeface="Aptos"/>
              </a:defRPr>
            </a:pPr>
            <a:r>
              <a:t>Six headline measures turn the validated data into a consistent management view.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53312"/>
            <a:ext cx="3401568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353312"/>
            <a:ext cx="64008" cy="1572768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472184"/>
            <a:ext cx="3127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6707A"/>
                </a:solidFill>
                <a:latin typeface="Aptos"/>
              </a:defRPr>
            </a:pPr>
            <a:r>
              <a:t>TOTAL REPAIRS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792224"/>
            <a:ext cx="3127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756"/>
                </a:solidFill>
                <a:latin typeface="Aptos"/>
              </a:defRPr>
            </a:pPr>
            <a:r>
              <a:t>1,350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67712"/>
            <a:ext cx="3081528" cy="58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40" b="0">
                <a:solidFill>
                  <a:srgbClr val="2D3237"/>
                </a:solidFill>
                <a:latin typeface="Aptos"/>
              </a:defRPr>
            </a:pPr>
            <a:r>
              <a:t>Distinct repair IDs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353312"/>
            <a:ext cx="3401568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61688" y="1353312"/>
            <a:ext cx="64008" cy="157276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79" y="1472184"/>
            <a:ext cx="3127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6707A"/>
                </a:solidFill>
                <a:latin typeface="Aptos"/>
              </a:defRPr>
            </a:pPr>
            <a:r>
              <a:t>ON-TIME COMPLETION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1792224"/>
            <a:ext cx="3127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756"/>
                </a:solidFill>
                <a:latin typeface="Aptos"/>
              </a:defRPr>
            </a:pPr>
            <a:r>
              <a:t>57.82%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79" y="2267712"/>
            <a:ext cx="3081528" cy="58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40" b="0">
                <a:solidFill>
                  <a:srgbClr val="2D3237"/>
                </a:solidFill>
                <a:latin typeface="Aptos"/>
              </a:defRPr>
            </a:pPr>
            <a:r>
              <a:t>Completed repairs marked On-Time ÷ completed repairs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353312"/>
            <a:ext cx="3401568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65008" y="1353312"/>
            <a:ext cx="64008" cy="1572768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0" y="1472184"/>
            <a:ext cx="3127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6707A"/>
                </a:solidFill>
                <a:latin typeface="Aptos"/>
              </a:defRPr>
            </a:pPr>
            <a:r>
              <a:t>REPEAT REPAIR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792224"/>
            <a:ext cx="3127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756"/>
                </a:solidFill>
                <a:latin typeface="Aptos"/>
              </a:defRPr>
            </a:pPr>
            <a:r>
              <a:t>8.24%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267712"/>
            <a:ext cx="3081528" cy="58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40" b="0">
                <a:solidFill>
                  <a:srgbClr val="2D3237"/>
                </a:solidFill>
                <a:latin typeface="Aptos"/>
              </a:defRPr>
            </a:pPr>
            <a:r>
              <a:t>Completed repairs marked repeat within 90 days ÷ completed repairs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346704"/>
            <a:ext cx="3401568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8368" y="3346704"/>
            <a:ext cx="64008" cy="1572768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59" y="3465576"/>
            <a:ext cx="3127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6707A"/>
                </a:solidFill>
                <a:latin typeface="Aptos"/>
              </a:defRPr>
            </a:pPr>
            <a:r>
              <a:t>TOTAL REPAIR COST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3785616"/>
            <a:ext cx="3127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756"/>
                </a:solidFill>
                <a:latin typeface="Aptos"/>
              </a:defRPr>
            </a:pPr>
            <a:r>
              <a:t>£368.62K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4261104"/>
            <a:ext cx="3081528" cy="58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40" b="0">
                <a:solidFill>
                  <a:srgbClr val="2D3237"/>
                </a:solidFill>
                <a:latin typeface="Aptos"/>
              </a:defRPr>
            </a:pPr>
            <a:r>
              <a:t>Sum of valid repair costs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61688" y="3346704"/>
            <a:ext cx="3401568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61688" y="3346704"/>
            <a:ext cx="64008" cy="157276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26279" y="3465576"/>
            <a:ext cx="3127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6707A"/>
                </a:solidFill>
                <a:latin typeface="Aptos"/>
              </a:defRPr>
            </a:pPr>
            <a:r>
              <a:t>AVERAGE SATISFACTION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79" y="3785616"/>
            <a:ext cx="3127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756"/>
                </a:solidFill>
                <a:latin typeface="Aptos"/>
              </a:defRPr>
            </a:pPr>
            <a:r>
              <a:t>3.86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79" y="4261104"/>
            <a:ext cx="3081528" cy="58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40" b="0">
                <a:solidFill>
                  <a:srgbClr val="2D3237"/>
                </a:solidFill>
                <a:latin typeface="Aptos"/>
              </a:defRPr>
            </a:pPr>
            <a:r>
              <a:t>Average recorded satisfaction; missing responses excluded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65008" y="3346704"/>
            <a:ext cx="3401568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065008" y="3346704"/>
            <a:ext cx="64008" cy="1572768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29600" y="3465576"/>
            <a:ext cx="3127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6707A"/>
                </a:solidFill>
                <a:latin typeface="Aptos"/>
              </a:defRPr>
            </a:pPr>
            <a:r>
              <a:t>COMPLAINT RATE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785616"/>
            <a:ext cx="3127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756"/>
                </a:solidFill>
                <a:latin typeface="Aptos"/>
              </a:defRPr>
            </a:pPr>
            <a:r>
              <a:t>10.96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261104"/>
            <a:ext cx="3081528" cy="58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40" b="0">
                <a:solidFill>
                  <a:srgbClr val="2D3237"/>
                </a:solidFill>
                <a:latin typeface="Aptos"/>
              </a:defRPr>
            </a:pPr>
            <a:r>
              <a:t>Complaints per 100 repairs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577840"/>
            <a:ext cx="10515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707A"/>
                </a:solidFill>
                <a:latin typeface="Aptos"/>
              </a:defRPr>
            </a:pPr>
            <a:r>
              <a:rPr dirty="0"/>
              <a:t>Validation </a:t>
            </a:r>
            <a:r>
              <a:rPr sz="1200" dirty="0"/>
              <a:t>check</a:t>
            </a:r>
            <a:r>
              <a:rPr dirty="0"/>
              <a:t>: for completed repairs, the recorded On-Time flag was consistent with the independent completion-date comparison.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" y="6519672"/>
            <a:ext cx="10927080" cy="10972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" y="6565392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6707A"/>
                </a:solidFill>
                <a:latin typeface="Aptos"/>
              </a:defRPr>
            </a:pPr>
            <a:r>
              <a:t>Housing Repairs Performance | Practical Assessment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27080" y="6547104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707A"/>
                </a:solidFill>
                <a:latin typeface="Aptos"/>
              </a:defRPr>
            </a:pPr>
            <a:r>
              <a:rPr sz="800">
                <a:solidFill>
                  <a:srgbClr val="66707A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2926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3756"/>
                </a:solidFill>
                <a:latin typeface="Aptos Display"/>
              </a:defRPr>
            </a:pPr>
            <a:r>
              <a:t>5. Repairs Performance — What It Means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04672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707A"/>
                </a:solidFill>
                <a:latin typeface="Aptos"/>
              </a:defRPr>
            </a:pPr>
            <a:r>
              <a:t>The dashboard identifies where management investigation should start; it does not establish causation.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34440"/>
            <a:ext cx="3200400" cy="1143000"/>
          </a:xfrm>
          <a:prstGeom prst="roundRect">
            <a:avLst/>
          </a:prstGeom>
          <a:solidFill>
            <a:srgbClr val="EAF0F8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234440"/>
            <a:ext cx="64008" cy="11430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35331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6707A"/>
                </a:solidFill>
                <a:latin typeface="Aptos"/>
              </a:defRPr>
            </a:pPr>
            <a:r>
              <a:t>OVERALL ON-TIME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8" y="1572768"/>
            <a:ext cx="303580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756"/>
                </a:solidFill>
                <a:latin typeface="Aptos"/>
              </a:defRPr>
            </a:pPr>
            <a:r>
              <a:rPr dirty="0"/>
              <a:t>57.82%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970532"/>
            <a:ext cx="3035808" cy="387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" b="0">
                <a:solidFill>
                  <a:srgbClr val="2D3237"/>
                </a:solidFill>
                <a:latin typeface="Aptos"/>
              </a:defRPr>
            </a:pPr>
            <a:r>
              <a:rPr dirty="0"/>
              <a:t>A substantial share of completed repairs were outside the recorded target.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1234440"/>
            <a:ext cx="3200400" cy="1143000"/>
          </a:xfrm>
          <a:prstGeom prst="roundRect">
            <a:avLst/>
          </a:prstGeom>
          <a:solidFill>
            <a:srgbClr val="E8F3F1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069080" y="1234440"/>
            <a:ext cx="64008" cy="1143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33672" y="135331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6707A"/>
                </a:solidFill>
                <a:latin typeface="Aptos"/>
              </a:defRPr>
            </a:pPr>
            <a:r>
              <a:t>HIGHEST CONTRACTOR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33672" y="1499616"/>
            <a:ext cx="2971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756"/>
                </a:solidFill>
                <a:latin typeface="Aptos"/>
              </a:defRPr>
            </a:pPr>
            <a:r>
              <a:rPr dirty="0"/>
              <a:t>71.02%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33672" y="1865376"/>
            <a:ext cx="2971800" cy="387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" b="0">
                <a:solidFill>
                  <a:srgbClr val="2D3237"/>
                </a:solidFill>
                <a:latin typeface="Aptos"/>
              </a:defRPr>
            </a:pPr>
            <a:r>
              <a:rPr dirty="0"/>
              <a:t>Apex Repairs Ltd has the highest observed on-time rate.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79792" y="1191576"/>
            <a:ext cx="4023360" cy="1202323"/>
          </a:xfrm>
          <a:prstGeom prst="roundRect">
            <a:avLst/>
          </a:prstGeom>
          <a:solidFill>
            <a:srgbClr val="FFFFFF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479792" y="1234440"/>
            <a:ext cx="64008" cy="1143000"/>
          </a:xfrm>
          <a:prstGeom prst="rect">
            <a:avLst/>
          </a:prstGeom>
          <a:solidFill>
            <a:srgbClr val="BE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44383" y="1353312"/>
            <a:ext cx="3749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6707A"/>
                </a:solidFill>
                <a:latin typeface="Aptos"/>
              </a:defRPr>
            </a:pPr>
            <a:r>
              <a:t>LOWEST CONTRACTOR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44383" y="1530477"/>
            <a:ext cx="3749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756"/>
                </a:solidFill>
                <a:latin typeface="Aptos"/>
              </a:defRPr>
            </a:pPr>
            <a:r>
              <a:t>35.22%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44383" y="1865376"/>
            <a:ext cx="3694177" cy="378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30" b="0">
                <a:solidFill>
                  <a:srgbClr val="2D3237"/>
                </a:solidFill>
                <a:latin typeface="Aptos"/>
              </a:defRPr>
            </a:pPr>
            <a:r>
              <a:rPr dirty="0"/>
              <a:t>Delta Works South has the lowest observed on-time rate; an investigation signal, not proof of cause.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2670048"/>
            <a:ext cx="52120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2A9D8F"/>
                </a:solidFill>
                <a:latin typeface="Aptos"/>
              </a:defRPr>
            </a:pPr>
            <a:r>
              <a:t>CATEGORY SIGNALS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2990088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1">
                <a:solidFill>
                  <a:srgbClr val="2D3237"/>
                </a:solidFill>
                <a:latin typeface="Aptos"/>
              </a:defRPr>
            </a:pPr>
            <a:r>
              <a:t>Damp &amp; Mold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65960" y="3022092"/>
            <a:ext cx="2788920" cy="1371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965960" y="3022092"/>
            <a:ext cx="615514" cy="1371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46320" y="299008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19" b="1">
                <a:solidFill>
                  <a:srgbClr val="1F3756"/>
                </a:solidFill>
                <a:latin typeface="Aptos"/>
              </a:defRPr>
            </a:pPr>
            <a:r>
              <a:t>22.1%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3355848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1">
                <a:solidFill>
                  <a:srgbClr val="2D3237"/>
                </a:solidFill>
                <a:latin typeface="Aptos"/>
              </a:defRPr>
            </a:pPr>
            <a:r>
              <a:t>Gas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65960" y="3387852"/>
            <a:ext cx="2788920" cy="1371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965960" y="3387852"/>
            <a:ext cx="684958" cy="1371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46320" y="335584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19" b="1">
                <a:solidFill>
                  <a:srgbClr val="1F3756"/>
                </a:solidFill>
                <a:latin typeface="Aptos"/>
              </a:defRPr>
            </a:pPr>
            <a:r>
              <a:t>24.6%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3721608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1">
                <a:solidFill>
                  <a:srgbClr val="2D3237"/>
                </a:solidFill>
                <a:latin typeface="Aptos"/>
              </a:defRPr>
            </a:pPr>
            <a:r>
              <a:t>Roofing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65960" y="3753612"/>
            <a:ext cx="2788920" cy="1371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965960" y="3753612"/>
            <a:ext cx="804045" cy="1371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846320" y="372160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19" b="1">
                <a:solidFill>
                  <a:srgbClr val="1F3756"/>
                </a:solidFill>
                <a:latin typeface="Aptos"/>
              </a:defRPr>
            </a:pPr>
            <a:r>
              <a:t>28.8%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087368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1">
                <a:solidFill>
                  <a:srgbClr val="2D3237"/>
                </a:solidFill>
                <a:latin typeface="Aptos"/>
              </a:defRPr>
            </a:pPr>
            <a:r>
              <a:t>Heating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65960" y="4119372"/>
            <a:ext cx="2788920" cy="1371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965960" y="4119372"/>
            <a:ext cx="1099113" cy="1371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846320" y="408736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19" b="1">
                <a:solidFill>
                  <a:srgbClr val="1F3756"/>
                </a:solidFill>
                <a:latin typeface="Aptos"/>
              </a:defRPr>
            </a:pPr>
            <a:r>
              <a:t>39.4%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4453128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1">
                <a:solidFill>
                  <a:srgbClr val="2D3237"/>
                </a:solidFill>
                <a:latin typeface="Aptos"/>
              </a:defRPr>
            </a:pPr>
            <a:r>
              <a:t>Electrical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65960" y="4485132"/>
            <a:ext cx="2788920" cy="1371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965960" y="4485132"/>
            <a:ext cx="1533906" cy="13716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846320" y="445312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19" b="1">
                <a:solidFill>
                  <a:srgbClr val="1F3756"/>
                </a:solidFill>
                <a:latin typeface="Aptos"/>
              </a:defRPr>
            </a:pPr>
            <a:r>
              <a:t>55.0%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4818888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1">
                <a:solidFill>
                  <a:srgbClr val="2D3237"/>
                </a:solidFill>
                <a:latin typeface="Aptos"/>
              </a:defRPr>
            </a:pPr>
            <a:r>
              <a:t>General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965960" y="4850892"/>
            <a:ext cx="2788920" cy="1371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965960" y="4850892"/>
            <a:ext cx="2286077" cy="13716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846320" y="481888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19" b="1">
                <a:solidFill>
                  <a:srgbClr val="1F3756"/>
                </a:solidFill>
                <a:latin typeface="Aptos"/>
              </a:defRPr>
            </a:pPr>
            <a:r>
              <a:t>82.0%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5184648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1">
                <a:solidFill>
                  <a:srgbClr val="2D3237"/>
                </a:solidFill>
                <a:latin typeface="Aptos"/>
              </a:defRPr>
            </a:pPr>
            <a:r>
              <a:t>Plumbing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65960" y="5216652"/>
            <a:ext cx="2788920" cy="1371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965960" y="5216652"/>
            <a:ext cx="2318986" cy="13716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846320" y="518464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19" b="1">
                <a:solidFill>
                  <a:srgbClr val="1F3756"/>
                </a:solidFill>
                <a:latin typeface="Aptos"/>
              </a:defRPr>
            </a:pPr>
            <a:r>
              <a:t>83.2%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5550408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1">
                <a:solidFill>
                  <a:srgbClr val="2D3237"/>
                </a:solidFill>
                <a:latin typeface="Aptos"/>
              </a:defRPr>
            </a:pPr>
            <a:r>
              <a:t>Carpentry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65960" y="5582412"/>
            <a:ext cx="2788920" cy="1371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1965960" y="5582412"/>
            <a:ext cx="2376996" cy="13716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846320" y="555040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19" b="1">
                <a:solidFill>
                  <a:srgbClr val="1F3756"/>
                </a:solidFill>
                <a:latin typeface="Aptos"/>
              </a:defRPr>
            </a:pPr>
            <a:r>
              <a:t>85.2%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15000" y="2670048"/>
            <a:ext cx="53035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2F5597"/>
                </a:solidFill>
                <a:latin typeface="Aptos"/>
              </a:defRPr>
            </a:pPr>
            <a:r>
              <a:t>MANAGEMENT INTERPRETATION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15000" y="3017520"/>
            <a:ext cx="5212080" cy="2031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900"/>
              </a:spcAft>
              <a:defRPr sz="1120">
                <a:solidFill>
                  <a:srgbClr val="2D3237"/>
                </a:solidFill>
                <a:latin typeface="Aptos"/>
              </a:defRPr>
            </a:pPr>
            <a:r>
              <a:rPr dirty="0"/>
              <a:t>Damp &amp; Mold, Gas and Roofing are the three weakest repair categories, all below 30% on-time completion.</a:t>
            </a:r>
          </a:p>
          <a:p>
            <a:pPr>
              <a:lnSpc>
                <a:spcPct val="103000"/>
              </a:lnSpc>
              <a:spcAft>
                <a:spcPts val="900"/>
              </a:spcAft>
              <a:defRPr sz="1120">
                <a:solidFill>
                  <a:srgbClr val="2D3237"/>
                </a:solidFill>
                <a:latin typeface="Aptos"/>
              </a:defRPr>
            </a:pPr>
            <a:r>
              <a:rPr dirty="0"/>
              <a:t>Carpentry and Plumbing are above 80%, showing performance is not uniform across the portfolio.</a:t>
            </a:r>
          </a:p>
          <a:p>
            <a:pPr>
              <a:lnSpc>
                <a:spcPct val="103000"/>
              </a:lnSpc>
              <a:spcAft>
                <a:spcPts val="900"/>
              </a:spcAft>
              <a:defRPr sz="1120">
                <a:solidFill>
                  <a:srgbClr val="2D3237"/>
                </a:solidFill>
                <a:latin typeface="Aptos"/>
              </a:defRPr>
            </a:pPr>
            <a:r>
              <a:rPr dirty="0"/>
              <a:t>The contractor</a:t>
            </a:r>
            <a:r>
              <a:rPr lang="en-GB" dirty="0"/>
              <a:t>s’ on-time completion</a:t>
            </a:r>
            <a:r>
              <a:rPr dirty="0"/>
              <a:t> range is wide (35.22%–71.02%). Review work mix, priority, trade and target rules before attributing the difference to provider performance.</a:t>
            </a:r>
          </a:p>
          <a:p>
            <a:pPr>
              <a:lnSpc>
                <a:spcPct val="103000"/>
              </a:lnSpc>
              <a:spcAft>
                <a:spcPts val="900"/>
              </a:spcAft>
              <a:defRPr sz="1120">
                <a:solidFill>
                  <a:srgbClr val="2D3237"/>
                </a:solidFill>
                <a:latin typeface="Aptos"/>
              </a:defRPr>
            </a:pPr>
            <a:r>
              <a:rPr dirty="0"/>
              <a:t>The 8.24% repeat-repair rate indicates some completed jobs are followed by another repair within 90 days, creating additional service demand and cost.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1792" y="6519672"/>
            <a:ext cx="10927080" cy="10972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40080" y="6565392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6707A"/>
                </a:solidFill>
                <a:latin typeface="Aptos"/>
              </a:defRPr>
            </a:pPr>
            <a:r>
              <a:t>Housing Repairs Performance | Practical Assessment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27080" y="6547104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707A"/>
                </a:solidFill>
                <a:latin typeface="Aptos"/>
              </a:defRPr>
            </a:pPr>
            <a:r>
              <a:rPr sz="800">
                <a:solidFill>
                  <a:srgbClr val="66707A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2926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3756"/>
                </a:solidFill>
                <a:latin typeface="Aptos Display"/>
              </a:defRPr>
            </a:pPr>
            <a:r>
              <a:t>6. Resident Impact &amp; Complaints — What It Means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04672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707A"/>
                </a:solidFill>
                <a:latin typeface="Aptos"/>
              </a:defRPr>
            </a:pPr>
            <a:r>
              <a:t>Resident outcomes do not all point in the same direction, which makes careful interpretation important.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61872"/>
            <a:ext cx="3383280" cy="1234440"/>
          </a:xfrm>
          <a:prstGeom prst="roundRect">
            <a:avLst/>
          </a:prstGeom>
          <a:solidFill>
            <a:srgbClr val="E8F3F1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261872"/>
            <a:ext cx="64008" cy="123444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380743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6707A"/>
                </a:solidFill>
                <a:latin typeface="Aptos"/>
              </a:defRPr>
            </a:pPr>
            <a:r>
              <a:t>VULNERABLE RESIDENTS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700784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756"/>
                </a:solidFill>
                <a:latin typeface="Aptos"/>
              </a:defRPr>
            </a:pPr>
            <a:r>
              <a:t>62.20%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176272"/>
            <a:ext cx="3063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" b="0">
                <a:solidFill>
                  <a:srgbClr val="2D3237"/>
                </a:solidFill>
                <a:latin typeface="Aptos"/>
              </a:defRPr>
            </a:pPr>
            <a:r>
              <a:t>Observed on-time completion is higher than the 57.00% comparison group.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0248" y="1261872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70248" y="1261872"/>
            <a:ext cx="64008" cy="1234440"/>
          </a:xfrm>
          <a:prstGeom prst="rect">
            <a:avLst/>
          </a:prstGeom>
          <a:solidFill>
            <a:srgbClr val="C48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34840" y="1380743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6707A"/>
                </a:solidFill>
                <a:latin typeface="Aptos"/>
              </a:defRPr>
            </a:pPr>
            <a:r>
              <a:t>AGE 75+ SATISFACTION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700784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756"/>
                </a:solidFill>
                <a:latin typeface="Aptos"/>
              </a:defRPr>
            </a:pPr>
            <a:r>
              <a:t>3.43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176272"/>
            <a:ext cx="3063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" b="0">
                <a:solidFill>
                  <a:srgbClr val="2D3237"/>
                </a:solidFill>
                <a:latin typeface="Aptos"/>
              </a:defRPr>
            </a:pPr>
            <a:r>
              <a:t>Lowest observed average satisfaction across the five age bands.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82127" y="1261872"/>
            <a:ext cx="3611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882127" y="1261872"/>
            <a:ext cx="64008" cy="1234440"/>
          </a:xfrm>
          <a:prstGeom prst="rect">
            <a:avLst/>
          </a:prstGeom>
          <a:solidFill>
            <a:srgbClr val="BE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19" y="1380743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6707A"/>
                </a:solidFill>
                <a:latin typeface="Aptos"/>
              </a:defRPr>
            </a:pPr>
            <a:r>
              <a:t>UPHELD COMPLAINTS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9" y="1700784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756"/>
                </a:solidFill>
                <a:latin typeface="Aptos"/>
              </a:defRPr>
            </a:pPr>
            <a:r>
              <a:t>60.8%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9" y="2176272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40" b="0">
                <a:solidFill>
                  <a:srgbClr val="2D3237"/>
                </a:solidFill>
                <a:latin typeface="Aptos"/>
              </a:defRPr>
            </a:pPr>
            <a:r>
              <a:t>90 of 148 complaints are marked upheld, a material service-quality signal.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2788920"/>
            <a:ext cx="5120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2A9D8F"/>
                </a:solidFill>
                <a:latin typeface="Aptos"/>
              </a:defRPr>
            </a:pPr>
            <a:r>
              <a:t>WHAT THIS MEANS FOR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090672"/>
            <a:ext cx="51663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1000"/>
              </a:spcAft>
              <a:defRPr sz="1170">
                <a:solidFill>
                  <a:srgbClr val="2D3237"/>
                </a:solidFill>
                <a:latin typeface="Aptos"/>
              </a:defRPr>
            </a:pPr>
            <a:r>
              <a:t>The vulnerable group is not showing poorer on-time performance in this dataset; it is higher. That is a positive service signal and should be maintained.</a:t>
            </a:r>
          </a:p>
          <a:p>
            <a:pPr>
              <a:lnSpc>
                <a:spcPct val="103000"/>
              </a:lnSpc>
              <a:spcAft>
                <a:spcPts val="1000"/>
              </a:spcAft>
              <a:defRPr sz="1170">
                <a:solidFill>
                  <a:srgbClr val="2D3237"/>
                </a:solidFill>
                <a:latin typeface="Aptos"/>
              </a:defRPr>
            </a:pPr>
            <a:r>
              <a:t>Because vulnerability can carry regulatory and reputational implications, management should still monitor this group rather than assume the result will persist.</a:t>
            </a:r>
          </a:p>
          <a:p>
            <a:pPr>
              <a:lnSpc>
                <a:spcPct val="103000"/>
              </a:lnSpc>
              <a:spcAft>
                <a:spcPts val="1000"/>
              </a:spcAft>
              <a:defRPr sz="1170">
                <a:solidFill>
                  <a:srgbClr val="2D3237"/>
                </a:solidFill>
                <a:latin typeface="Aptos"/>
              </a:defRPr>
            </a:pPr>
            <a:r>
              <a:t>The 75+ group has the lowest satisfaction score, making older residents a useful segment for deeper investigation into service experience.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2788920"/>
            <a:ext cx="5029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2F5597"/>
                </a:solidFill>
                <a:latin typeface="Aptos"/>
              </a:defRPr>
            </a:pPr>
            <a:r>
              <a:t>WHAT COMPLAINTS ARE TELLING 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3090672"/>
            <a:ext cx="51663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1000"/>
              </a:spcAft>
              <a:defRPr sz="1170">
                <a:solidFill>
                  <a:srgbClr val="2D3237"/>
                </a:solidFill>
                <a:latin typeface="Aptos"/>
              </a:defRPr>
            </a:pPr>
            <a:r>
              <a:t>Delay and Quality of Work are joint largest categories: 39 complaints each (26.4%).</a:t>
            </a:r>
          </a:p>
          <a:p>
            <a:pPr>
              <a:lnSpc>
                <a:spcPct val="103000"/>
              </a:lnSpc>
              <a:spcAft>
                <a:spcPts val="1000"/>
              </a:spcAft>
              <a:defRPr sz="1170">
                <a:solidFill>
                  <a:srgbClr val="2D3237"/>
                </a:solidFill>
                <a:latin typeface="Aptos"/>
              </a:defRPr>
            </a:pPr>
            <a:r>
              <a:t>Missed appointments account for 28 complaints (18.9%), pointing to an avoidable service-experience issue.</a:t>
            </a:r>
          </a:p>
          <a:p>
            <a:pPr>
              <a:lnSpc>
                <a:spcPct val="103000"/>
              </a:lnSpc>
              <a:spcAft>
                <a:spcPts val="1000"/>
              </a:spcAft>
              <a:defRPr sz="1170">
                <a:solidFill>
                  <a:srgbClr val="2D3237"/>
                </a:solidFill>
                <a:latin typeface="Aptos"/>
              </a:defRPr>
            </a:pPr>
            <a:r>
              <a:t>131 complaints are Stage 1 (88.5%), so most complaints remain at the first stage of the process.</a:t>
            </a:r>
          </a:p>
          <a:p>
            <a:pPr>
              <a:lnSpc>
                <a:spcPct val="103000"/>
              </a:lnSpc>
              <a:spcAft>
                <a:spcPts val="1000"/>
              </a:spcAft>
              <a:defRPr sz="1170">
                <a:solidFill>
                  <a:srgbClr val="2D3237"/>
                </a:solidFill>
                <a:latin typeface="Aptos"/>
              </a:defRPr>
            </a:pPr>
            <a:r>
              <a:t>Complaints provide a second lens on service quality and should be reviewed alongside repair performance.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" y="6519672"/>
            <a:ext cx="10927080" cy="10972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6565392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6707A"/>
                </a:solidFill>
                <a:latin typeface="Aptos"/>
              </a:defRPr>
            </a:pPr>
            <a:r>
              <a:t>Housing Repairs Performance | Practical Assessment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27080" y="6547104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707A"/>
                </a:solidFill>
                <a:latin typeface="Aptos"/>
              </a:defRPr>
            </a:pPr>
            <a:r>
              <a:rPr sz="800">
                <a:solidFill>
                  <a:srgbClr val="66707A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2926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3756"/>
                </a:solidFill>
                <a:latin typeface="Aptos Display"/>
              </a:defRPr>
            </a:pPr>
            <a:r>
              <a:t>7. Business Risks Identified from the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04672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707A"/>
                </a:solidFill>
                <a:latin typeface="Aptos"/>
              </a:defRPr>
            </a:pPr>
            <a:r>
              <a:t>The risks translate observed service patterns into potential business consequences.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98448"/>
            <a:ext cx="5166360" cy="1243584"/>
          </a:xfrm>
          <a:prstGeom prst="roundRect">
            <a:avLst/>
          </a:prstGeom>
          <a:solidFill>
            <a:srgbClr val="FFFFFF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298448"/>
            <a:ext cx="64008" cy="1243584"/>
          </a:xfrm>
          <a:prstGeom prst="rect">
            <a:avLst/>
          </a:prstGeom>
          <a:solidFill>
            <a:srgbClr val="BE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417319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6707A"/>
                </a:solidFill>
                <a:latin typeface="Aptos"/>
              </a:defRPr>
            </a:pPr>
            <a:r>
              <a:t>Resident safety &amp; wellbeing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773936"/>
            <a:ext cx="48463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" b="0">
                <a:solidFill>
                  <a:srgbClr val="2D3237"/>
                </a:solidFill>
                <a:latin typeface="Aptos"/>
              </a:defRPr>
            </a:pPr>
            <a:r>
              <a:t>Poor or delayed repairs—particularly gas, heating and damp/mould—can potentially expose residents to accidents, injury or other serious harm if issues are not resolved appropriately.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298448"/>
            <a:ext cx="5166360" cy="1243584"/>
          </a:xfrm>
          <a:prstGeom prst="roundRect">
            <a:avLst/>
          </a:prstGeom>
          <a:solidFill>
            <a:srgbClr val="FFFFFF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90488" y="1298448"/>
            <a:ext cx="64008" cy="1243584"/>
          </a:xfrm>
          <a:prstGeom prst="rect">
            <a:avLst/>
          </a:prstGeom>
          <a:solidFill>
            <a:srgbClr val="C48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79" y="1417319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6707A"/>
                </a:solidFill>
                <a:latin typeface="Aptos"/>
              </a:defRPr>
            </a:pPr>
            <a:r>
              <a:t>Financial 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79" y="1773936"/>
            <a:ext cx="48463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" b="0">
                <a:solidFill>
                  <a:srgbClr val="2D3237"/>
                </a:solidFill>
                <a:latin typeface="Aptos"/>
              </a:defRPr>
            </a:pPr>
            <a:r>
              <a:t>Repeat repairs create additional demand and cost. Repair expenditure and compensation payments can reduce financial efficiency and recurring failures may increase the cost of serving the same issue.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788920"/>
            <a:ext cx="5166360" cy="1243584"/>
          </a:xfrm>
          <a:prstGeom prst="roundRect">
            <a:avLst/>
          </a:prstGeom>
          <a:solidFill>
            <a:srgbClr val="FFFFFF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8368" y="2788920"/>
            <a:ext cx="64008" cy="1243584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59" y="2907791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6707A"/>
                </a:solidFill>
                <a:latin typeface="Aptos"/>
              </a:defRPr>
            </a:pPr>
            <a:r>
              <a:t>Customer retention &amp; tenancy stability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264408"/>
            <a:ext cx="48463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" b="0">
                <a:solidFill>
                  <a:srgbClr val="2D3237"/>
                </a:solidFill>
                <a:latin typeface="Aptos"/>
              </a:defRPr>
            </a:pPr>
            <a:r>
              <a:t>Persistent poor service may reduce resident trust and satisfaction and could contribute to residents ending a tenancy, seeking redress or pursuing compensation.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2788920"/>
            <a:ext cx="5166360" cy="1243584"/>
          </a:xfrm>
          <a:prstGeom prst="roundRect">
            <a:avLst/>
          </a:prstGeom>
          <a:solidFill>
            <a:srgbClr val="FFFFFF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90488" y="2788920"/>
            <a:ext cx="64008" cy="124358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5079" y="2907791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6707A"/>
                </a:solidFill>
                <a:latin typeface="Aptos"/>
              </a:defRPr>
            </a:pPr>
            <a:r>
              <a:t>Reputation &amp; trust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79" y="3264408"/>
            <a:ext cx="48463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" b="0">
                <a:solidFill>
                  <a:srgbClr val="2D3237"/>
                </a:solidFill>
                <a:latin typeface="Aptos"/>
              </a:defRPr>
            </a:pPr>
            <a:r>
              <a:t>High levels of complaints, upheld cases, delays and quality-of-work concerns can damage confidence in the service and increase reputational pressure.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279392"/>
            <a:ext cx="5166360" cy="1243584"/>
          </a:xfrm>
          <a:prstGeom prst="roundRect">
            <a:avLst/>
          </a:prstGeom>
          <a:solidFill>
            <a:srgbClr val="FFFFFF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58368" y="4279392"/>
            <a:ext cx="64008" cy="1243584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59" y="4398264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6707A"/>
                </a:solidFill>
                <a:latin typeface="Aptos"/>
              </a:defRPr>
            </a:pPr>
            <a:r>
              <a:t>Operational capacity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4754879"/>
            <a:ext cx="48463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" b="0">
                <a:solidFill>
                  <a:srgbClr val="2D3237"/>
                </a:solidFill>
                <a:latin typeface="Aptos"/>
              </a:defRPr>
            </a:pPr>
            <a:r>
              <a:t>Missed appointments, repeat repairs and unresolved work consume staff and contractor capacity, reducing resources available for new repairs.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4279392"/>
            <a:ext cx="5166360" cy="1243584"/>
          </a:xfrm>
          <a:prstGeom prst="roundRect">
            <a:avLst/>
          </a:prstGeom>
          <a:solidFill>
            <a:srgbClr val="FFFFFF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90488" y="4279392"/>
            <a:ext cx="64008" cy="1243584"/>
          </a:xfrm>
          <a:prstGeom prst="rect">
            <a:avLst/>
          </a:prstGeom>
          <a:solidFill>
            <a:srgbClr val="BE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55079" y="4398264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6707A"/>
                </a:solidFill>
                <a:latin typeface="Aptos"/>
              </a:defRPr>
            </a:pPr>
            <a:r>
              <a:t>Compliance / regulatory exposure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79" y="4754879"/>
            <a:ext cx="48463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" b="0">
                <a:solidFill>
                  <a:srgbClr val="2D3237"/>
                </a:solidFill>
                <a:latin typeface="Aptos"/>
              </a:defRPr>
            </a:pPr>
            <a:r>
              <a:t>Where repairs involve vulnerable residents, safety issues or housing-condition concerns, prolonged service failures could increase risk of regulatory scrutiny, complaint escalation or legal challenge.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89788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66707A"/>
                </a:solidFill>
                <a:latin typeface="Aptos"/>
              </a:defRPr>
            </a:pPr>
            <a:r>
              <a:t>These are potential business risks indicated by the analysis—not claims that these outcomes have occurred in the supplied dataset.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" y="6519672"/>
            <a:ext cx="10927080" cy="10972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6565392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6707A"/>
                </a:solidFill>
                <a:latin typeface="Aptos"/>
              </a:defRPr>
            </a:pPr>
            <a:r>
              <a:t>Housing Repairs Performance | Practical Assessment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27080" y="6547104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707A"/>
                </a:solidFill>
                <a:latin typeface="Aptos"/>
              </a:defRPr>
            </a:pPr>
            <a:r>
              <a:rPr sz="800">
                <a:solidFill>
                  <a:srgbClr val="66707A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2926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3756"/>
                </a:solidFill>
                <a:latin typeface="Aptos Display"/>
              </a:defRPr>
            </a:pPr>
            <a:r>
              <a:t>8. Limitations, Assumptions &amp; Project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04672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707A"/>
                </a:solidFill>
                <a:latin typeface="Aptos"/>
              </a:defRPr>
            </a:pPr>
            <a:r>
              <a:t>The limitations define how confidently the findings should be used; they do not replace the business recommendations.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8016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280160"/>
            <a:ext cx="64008" cy="356616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399031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6707A"/>
                </a:solidFill>
                <a:latin typeface="Aptos"/>
              </a:defRPr>
            </a:pPr>
            <a:r>
              <a:t>DATA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755648"/>
            <a:ext cx="3108960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10" b="0">
                <a:solidFill>
                  <a:srgbClr val="2D3237"/>
                </a:solidFill>
                <a:latin typeface="Aptos"/>
              </a:defRPr>
            </a:pPr>
            <a:r>
              <a:t>• Synthetic dataset; results should not be treated as live organisational performance.</a:t>
            </a:r>
            <a:br/>
            <a:br/>
            <a:r>
              <a:t>• Some business rules could not be confirmed with an operational data owner.</a:t>
            </a:r>
            <a:br/>
            <a:br/>
            <a:r>
              <a:t>• Missing satisfaction responses limit interpretation of resident experience.</a:t>
            </a:r>
            <a:br/>
            <a:br/>
            <a:r>
              <a:t>• One complaint, one tenancy and several repair records contained date/field exceptions.</a:t>
            </a:r>
            <a:br/>
            <a:br/>
            <a:r>
              <a:t>• Some complaints cannot be fully linked to repair context because of invalid/missing Repair_ID links.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28016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280160"/>
            <a:ext cx="64008" cy="35661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07992" y="1399031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6707A"/>
                </a:solidFill>
                <a:latin typeface="Aptos"/>
              </a:defRPr>
            </a:pPr>
            <a:r>
              <a:t>ANALYTICAL 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1755648"/>
            <a:ext cx="3108960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10" b="0">
                <a:solidFill>
                  <a:srgbClr val="2D3237"/>
                </a:solidFill>
                <a:latin typeface="Aptos"/>
              </a:defRPr>
            </a:pPr>
            <a:r>
              <a:t>• Contractor comparisons may reflect different repair mix, priority or target rules.</a:t>
            </a:r>
            <a:br/>
            <a:br/>
            <a:r>
              <a:t>• Associations do not establish causation.</a:t>
            </a:r>
            <a:br/>
            <a:br/>
            <a:r>
              <a:t>• The 490 Target_Date differences require business-rule clarification.</a:t>
            </a:r>
            <a:br/>
            <a:br/>
            <a:r>
              <a:t>• RT08 gas-safety target behaviour requires SLA clarification.</a:t>
            </a:r>
            <a:br/>
            <a:br/>
            <a:r>
              <a:t>• Current sample structure may not represent longer-term trends.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128016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28431" y="1280160"/>
            <a:ext cx="64008" cy="3566160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93023" y="1399031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6707A"/>
                </a:solidFill>
                <a:latin typeface="Aptos"/>
              </a:defRPr>
            </a:pPr>
            <a:r>
              <a:t>WHAT THE PROJECT DELIVERS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3023" y="1755648"/>
            <a:ext cx="3108960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19" b="0">
                <a:solidFill>
                  <a:srgbClr val="2D3237"/>
                </a:solidFill>
                <a:latin typeface="Aptos"/>
              </a:defRPr>
            </a:pPr>
            <a:r>
              <a:t>• Structured data-quality assessment</a:t>
            </a:r>
            <a:br/>
            <a:br/>
            <a:r>
              <a:t>• Defensible analytical model</a:t>
            </a:r>
            <a:br/>
            <a:br/>
            <a:r>
              <a:t>• Six management KPIs</a:t>
            </a:r>
            <a:br/>
            <a:br/>
            <a:r>
              <a:t>• Focused repairs, resident and complaints insight</a:t>
            </a:r>
            <a:br/>
            <a:br/>
            <a:r>
              <a:t>• Identified business risks</a:t>
            </a:r>
            <a:br/>
            <a:br/>
            <a:r>
              <a:t>• Evidence-based service recommendations</a:t>
            </a:r>
            <a:br/>
            <a:br/>
            <a:r>
              <a:t>• Clear assumptions and limitations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" y="6519672"/>
            <a:ext cx="10927080" cy="10972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6565392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6707A"/>
                </a:solidFill>
                <a:latin typeface="Aptos"/>
              </a:defRPr>
            </a:pPr>
            <a:r>
              <a:t>Housing Repairs Performance | Practical Assessment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27080" y="6547104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707A"/>
                </a:solidFill>
                <a:latin typeface="Aptos"/>
              </a:defRPr>
            </a:pPr>
            <a:r>
              <a:rPr sz="800">
                <a:solidFill>
                  <a:srgbClr val="66707A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2926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3756"/>
                </a:solidFill>
                <a:latin typeface="Aptos Display"/>
              </a:defRPr>
            </a:pPr>
            <a:r>
              <a:t>9. Recommendations for Senior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04672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707A"/>
                </a:solidFill>
                <a:latin typeface="Aptos"/>
              </a:defRPr>
            </a:pPr>
            <a:r>
              <a:t>Actions are based on the service patterns and risks identified in the analysis.</a:t>
            </a:r>
          </a:p>
        </p:txBody>
      </p:sp>
      <p:sp>
        <p:nvSpPr>
          <p:cNvPr id="6" name="Oval 5"/>
          <p:cNvSpPr/>
          <p:nvPr/>
        </p:nvSpPr>
        <p:spPr>
          <a:xfrm>
            <a:off x="713232" y="1225296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31216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7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1207008"/>
            <a:ext cx="2880360" cy="264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1">
                <a:solidFill>
                  <a:srgbClr val="1F3756"/>
                </a:solidFill>
                <a:latin typeface="Aptos"/>
              </a:defRPr>
            </a:pPr>
            <a:r>
              <a:rPr dirty="0"/>
              <a:t>Improve </a:t>
            </a:r>
            <a:r>
              <a:rPr lang="en-GB" dirty="0"/>
              <a:t>on</a:t>
            </a:r>
            <a:r>
              <a:rPr dirty="0"/>
              <a:t>-time repair outcomes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1207008"/>
            <a:ext cx="7086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0">
                <a:solidFill>
                  <a:srgbClr val="2D3237"/>
                </a:solidFill>
                <a:latin typeface="Aptos"/>
              </a:defRPr>
            </a:pPr>
            <a:r>
              <a:t>Target the repair categories with the lowest observed on-time performance—especially Damp &amp; Mold, Gas and Roofing—and review root causes, materials, diagnosis and contractor capacity.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011680"/>
            <a:ext cx="457200" cy="457200"/>
          </a:xfrm>
          <a:prstGeom prst="ellipse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20985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7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993392"/>
            <a:ext cx="2880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1">
                <a:solidFill>
                  <a:srgbClr val="1F3756"/>
                </a:solidFill>
                <a:latin typeface="Aptos"/>
              </a:defRPr>
            </a:pPr>
            <a:r>
              <a:t>Reduce repeat repairs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1993392"/>
            <a:ext cx="7086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0">
                <a:solidFill>
                  <a:srgbClr val="2D3237"/>
                </a:solidFill>
                <a:latin typeface="Aptos"/>
              </a:defRPr>
            </a:pPr>
            <a:r>
              <a:t>Introduce structured review of repairs that recur within 90 days, focusing on diagnosis, workmanship, parts and follow-up.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2798064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" y="288493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7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2779776"/>
            <a:ext cx="2880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1">
                <a:solidFill>
                  <a:srgbClr val="1F3756"/>
                </a:solidFill>
                <a:latin typeface="Aptos"/>
              </a:defRPr>
            </a:pPr>
            <a:r>
              <a:t>Strengthen appointment reliability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2779776"/>
            <a:ext cx="7086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0">
                <a:solidFill>
                  <a:srgbClr val="2D3237"/>
                </a:solidFill>
                <a:latin typeface="Aptos"/>
              </a:defRPr>
            </a:pPr>
            <a:r>
              <a:t>Investigate missed appointments as a distinct service issue and improve appointment confirmation, scheduling and escalation processes.</a:t>
            </a:r>
          </a:p>
        </p:txBody>
      </p:sp>
      <p:sp>
        <p:nvSpPr>
          <p:cNvPr id="18" name="Oval 17"/>
          <p:cNvSpPr/>
          <p:nvPr/>
        </p:nvSpPr>
        <p:spPr>
          <a:xfrm>
            <a:off x="713232" y="3584448"/>
            <a:ext cx="457200" cy="457200"/>
          </a:xfrm>
          <a:prstGeom prst="ellipse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" y="3671315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7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3312" y="3566160"/>
            <a:ext cx="2880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1">
                <a:solidFill>
                  <a:srgbClr val="1F3756"/>
                </a:solidFill>
                <a:latin typeface="Aptos"/>
              </a:defRPr>
            </a:pPr>
            <a:r>
              <a:t>Use complaints as an early signal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3566160"/>
            <a:ext cx="7086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0">
                <a:solidFill>
                  <a:srgbClr val="2D3237"/>
                </a:solidFill>
                <a:latin typeface="Aptos"/>
              </a:defRPr>
            </a:pPr>
            <a:r>
              <a:t>Use Delay and Quality of Work complaints as warning indicators and connect complaint themes back to repair categories and operational teams.</a:t>
            </a:r>
          </a:p>
        </p:txBody>
      </p:sp>
      <p:sp>
        <p:nvSpPr>
          <p:cNvPr id="22" name="Oval 21"/>
          <p:cNvSpPr/>
          <p:nvPr/>
        </p:nvSpPr>
        <p:spPr>
          <a:xfrm>
            <a:off x="713232" y="437083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3232" y="445770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7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352544"/>
            <a:ext cx="2880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1">
                <a:solidFill>
                  <a:srgbClr val="1F3756"/>
                </a:solidFill>
                <a:latin typeface="Aptos"/>
              </a:defRPr>
            </a:pPr>
            <a:r>
              <a:t>Protect resident experience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0520" y="4352544"/>
            <a:ext cx="7086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0">
                <a:solidFill>
                  <a:srgbClr val="2D3237"/>
                </a:solidFill>
                <a:latin typeface="Aptos"/>
              </a:defRPr>
            </a:pPr>
            <a:r>
              <a:t>Maintain the stronger on-time performance observed for vulnerable residents while using the lower satisfaction among the 75+ group to explore whether communication, accessibility or service experience can improve.</a:t>
            </a:r>
          </a:p>
        </p:txBody>
      </p:sp>
      <p:sp>
        <p:nvSpPr>
          <p:cNvPr id="26" name="Oval 25"/>
          <p:cNvSpPr/>
          <p:nvPr/>
        </p:nvSpPr>
        <p:spPr>
          <a:xfrm>
            <a:off x="713232" y="5157216"/>
            <a:ext cx="457200" cy="457200"/>
          </a:xfrm>
          <a:prstGeom prst="ellipse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3232" y="5244083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7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53312" y="5138928"/>
            <a:ext cx="2880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1">
                <a:solidFill>
                  <a:srgbClr val="1F3756"/>
                </a:solidFill>
                <a:latin typeface="Aptos"/>
              </a:defRPr>
            </a:pPr>
            <a:r>
              <a:t>Monitor cost and compensation with performance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5138928"/>
            <a:ext cx="7086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0">
                <a:solidFill>
                  <a:srgbClr val="2D3237"/>
                </a:solidFill>
                <a:latin typeface="Aptos"/>
              </a:defRPr>
            </a:pPr>
            <a:r>
              <a:t>Review repeat-repair costs and compensation alongside operational KPIs to identify where service failures may also be creating avoidable financial pressure.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53312" y="6016752"/>
            <a:ext cx="9418320" cy="384048"/>
          </a:xfrm>
          <a:prstGeom prst="roundRect">
            <a:avLst/>
          </a:prstGeom>
          <a:solidFill>
            <a:srgbClr val="E8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508760" y="6108192"/>
            <a:ext cx="9098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F3756"/>
                </a:solidFill>
                <a:latin typeface="Aptos"/>
              </a:defRPr>
            </a:pPr>
            <a:r>
              <a:t>Focus on safer, more reliable repairs, fewer repeat failures, stronger resident experience and better cost control.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" y="6519672"/>
            <a:ext cx="10927080" cy="10972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6565392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6707A"/>
                </a:solidFill>
                <a:latin typeface="Aptos"/>
              </a:defRPr>
            </a:pPr>
            <a:r>
              <a:t>Housing Repairs Performance | Practical Assessment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27080" y="6547104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707A"/>
                </a:solidFill>
                <a:latin typeface="Aptos"/>
              </a:defRPr>
            </a:pPr>
            <a:r>
              <a:rPr sz="800">
                <a:solidFill>
                  <a:srgbClr val="66707A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1958</Words>
  <Application>Microsoft Office PowerPoint</Application>
  <PresentationFormat>Widescreen</PresentationFormat>
  <Paragraphs>224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Acer</dc:creator>
  <cp:keywords/>
  <dc:description>generated using python-pptx</dc:description>
  <cp:lastModifiedBy>Mujeeb Sonibare</cp:lastModifiedBy>
  <cp:revision>6</cp:revision>
  <dcterms:created xsi:type="dcterms:W3CDTF">2013-01-27T09:14:16Z</dcterms:created>
  <dcterms:modified xsi:type="dcterms:W3CDTF">2026-09-17T10:50:05Z</dcterms:modified>
  <cp:category/>
</cp:coreProperties>
</file>